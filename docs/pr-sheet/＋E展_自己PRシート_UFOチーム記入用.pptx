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B0F0"/>
    <a:srgbClr val="FF0000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48"/>
    <p:restoredTop sz="94658"/>
  </p:normalViewPr>
  <p:slideViewPr>
    <p:cSldViewPr snapToGrid="0">
      <p:cViewPr>
        <p:scale>
          <a:sx n="96" d="100"/>
          <a:sy n="96" d="100"/>
        </p:scale>
        <p:origin x="29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3904" y="2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10FC2-234A-F447-AAAA-720BBAFDE046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97B25-F678-B748-9D09-FA426BE37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9177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7B25-F678-B748-9D09-FA426BE37B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4022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551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AADD3640-626E-5328-E446-79FD72D311CD}"/>
              </a:ext>
            </a:extLst>
          </p:cNvPr>
          <p:cNvSpPr/>
          <p:nvPr userDrawn="1"/>
        </p:nvSpPr>
        <p:spPr>
          <a:xfrm>
            <a:off x="179388" y="4560711"/>
            <a:ext cx="7200900" cy="49706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DAEF3EB-FAD0-D21E-4225-65BCADECFE9D}"/>
              </a:ext>
            </a:extLst>
          </p:cNvPr>
          <p:cNvSpPr txBox="1"/>
          <p:nvPr userDrawn="1"/>
        </p:nvSpPr>
        <p:spPr>
          <a:xfrm>
            <a:off x="-2614133" y="459940"/>
            <a:ext cx="2486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>
                <a:latin typeface="+mn-ea"/>
                <a:ea typeface="+mn-ea"/>
              </a:rPr>
              <a:t>オビの太さ変えない</a:t>
            </a:r>
            <a:r>
              <a:rPr kumimoji="1" lang="en-US" altLang="ja-JP" sz="1400" dirty="0">
                <a:latin typeface="+mn-ea"/>
                <a:ea typeface="+mn-ea"/>
              </a:rPr>
              <a:t>18mm</a:t>
            </a:r>
            <a:r>
              <a:rPr kumimoji="1" lang="ja-JP" altLang="en-US" sz="1400">
                <a:latin typeface="+mn-ea"/>
                <a:ea typeface="+mn-ea"/>
              </a:rPr>
              <a:t>→</a:t>
            </a:r>
          </a:p>
        </p:txBody>
      </p:sp>
      <p:sp>
        <p:nvSpPr>
          <p:cNvPr id="2" name="左中かっこ 1">
            <a:extLst>
              <a:ext uri="{FF2B5EF4-FFF2-40B4-BE49-F238E27FC236}">
                <a16:creationId xmlns:a16="http://schemas.microsoft.com/office/drawing/2014/main" id="{923C1609-AFB2-80C1-E378-E6F531821E72}"/>
              </a:ext>
            </a:extLst>
          </p:cNvPr>
          <p:cNvSpPr/>
          <p:nvPr userDrawn="1"/>
        </p:nvSpPr>
        <p:spPr>
          <a:xfrm>
            <a:off x="-540774" y="5057775"/>
            <a:ext cx="324464" cy="576108"/>
          </a:xfrm>
          <a:prstGeom prst="leftBrac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AADC1C7-0B3E-56DD-76D4-77080658E0BA}"/>
              </a:ext>
            </a:extLst>
          </p:cNvPr>
          <p:cNvSpPr txBox="1"/>
          <p:nvPr userDrawn="1"/>
        </p:nvSpPr>
        <p:spPr>
          <a:xfrm>
            <a:off x="-2179035" y="5022663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この範囲には</a:t>
            </a:r>
            <a:endParaRPr kumimoji="1" lang="en-US" altLang="ja-JP" dirty="0"/>
          </a:p>
          <a:p>
            <a:r>
              <a:rPr kumimoji="1" lang="ja-JP" altLang="en-US"/>
              <a:t>何も配置しない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3B1C4A2-5F1A-0D95-2822-E57B092D02EF}"/>
              </a:ext>
            </a:extLst>
          </p:cNvPr>
          <p:cNvSpPr txBox="1"/>
          <p:nvPr userDrawn="1"/>
        </p:nvSpPr>
        <p:spPr>
          <a:xfrm>
            <a:off x="-3379356" y="-27664"/>
            <a:ext cx="3393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/>
              <a:t>ガイド線より上に配置しない→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8DE060C-6934-7589-CE2E-E785FD35A96B}"/>
              </a:ext>
            </a:extLst>
          </p:cNvPr>
          <p:cNvSpPr txBox="1"/>
          <p:nvPr userDrawn="1"/>
        </p:nvSpPr>
        <p:spPr>
          <a:xfrm>
            <a:off x="-3401798" y="10387013"/>
            <a:ext cx="3393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/>
              <a:t>ガイド線より下に配置しない→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40EB659-99D8-8B4F-0BBF-10A53E0EFC9B}"/>
              </a:ext>
            </a:extLst>
          </p:cNvPr>
          <p:cNvSpPr txBox="1"/>
          <p:nvPr userDrawn="1"/>
        </p:nvSpPr>
        <p:spPr>
          <a:xfrm>
            <a:off x="-3698834" y="2802698"/>
            <a:ext cx="2492990" cy="14773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/>
              <a:t>ガイド線が表示されて</a:t>
            </a:r>
            <a:endParaRPr kumimoji="1" lang="en-US" altLang="ja-JP" b="1" dirty="0"/>
          </a:p>
          <a:p>
            <a:pPr algn="ctr"/>
            <a:r>
              <a:rPr kumimoji="1" lang="ja-JP" altLang="en-US" b="1"/>
              <a:t>いない場合は</a:t>
            </a:r>
            <a:endParaRPr kumimoji="1" lang="en-US" altLang="ja-JP" b="1" dirty="0"/>
          </a:p>
          <a:p>
            <a:pPr algn="ctr"/>
            <a:r>
              <a:rPr kumimoji="1" lang="ja-JP" altLang="en-US" b="1"/>
              <a:t>［表示］タブ内の</a:t>
            </a:r>
            <a:endParaRPr kumimoji="1" lang="en-US" altLang="ja-JP" b="1" dirty="0"/>
          </a:p>
          <a:p>
            <a:pPr algn="ctr"/>
            <a:r>
              <a:rPr kumimoji="1" lang="ja-JP" altLang="en-US" b="1"/>
              <a:t>ガイドにチェックを</a:t>
            </a:r>
            <a:endParaRPr kumimoji="1" lang="en-US" altLang="ja-JP" b="1" dirty="0"/>
          </a:p>
          <a:p>
            <a:pPr algn="ctr"/>
            <a:r>
              <a:rPr kumimoji="1" lang="ja-JP" altLang="en-US" b="1"/>
              <a:t>入れましょう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5394AAC-C675-ED95-30A0-2CB0591D3536}"/>
              </a:ext>
            </a:extLst>
          </p:cNvPr>
          <p:cNvSpPr txBox="1"/>
          <p:nvPr userDrawn="1"/>
        </p:nvSpPr>
        <p:spPr>
          <a:xfrm>
            <a:off x="-2614133" y="5824290"/>
            <a:ext cx="2486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>
                <a:latin typeface="+mn-ea"/>
                <a:ea typeface="+mn-ea"/>
              </a:rPr>
              <a:t>オビの太さ変えない</a:t>
            </a:r>
            <a:r>
              <a:rPr kumimoji="1" lang="en-US" altLang="ja-JP" sz="1400" dirty="0">
                <a:latin typeface="+mn-ea"/>
                <a:ea typeface="+mn-ea"/>
              </a:rPr>
              <a:t>18mm</a:t>
            </a:r>
            <a:r>
              <a:rPr kumimoji="1" lang="ja-JP" altLang="en-US" sz="1400">
                <a:latin typeface="+mn-ea"/>
                <a:ea typeface="+mn-ea"/>
              </a:rPr>
              <a:t>→</a:t>
            </a:r>
          </a:p>
        </p:txBody>
      </p:sp>
      <p:sp>
        <p:nvSpPr>
          <p:cNvPr id="20" name="右矢印 19">
            <a:extLst>
              <a:ext uri="{FF2B5EF4-FFF2-40B4-BE49-F238E27FC236}">
                <a16:creationId xmlns:a16="http://schemas.microsoft.com/office/drawing/2014/main" id="{64E8E958-7772-0A0C-DA93-2DB2B5555FFF}"/>
              </a:ext>
            </a:extLst>
          </p:cNvPr>
          <p:cNvSpPr/>
          <p:nvPr userDrawn="1"/>
        </p:nvSpPr>
        <p:spPr>
          <a:xfrm rot="5940530">
            <a:off x="-4261703" y="1453113"/>
            <a:ext cx="2435104" cy="244116"/>
          </a:xfrm>
          <a:prstGeom prst="rightArrow">
            <a:avLst>
              <a:gd name="adj1" fmla="val 27852"/>
              <a:gd name="adj2" fmla="val 13189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右矢印 20">
            <a:extLst>
              <a:ext uri="{FF2B5EF4-FFF2-40B4-BE49-F238E27FC236}">
                <a16:creationId xmlns:a16="http://schemas.microsoft.com/office/drawing/2014/main" id="{7D2E095B-A0CE-2CE8-631C-7BF04B1B8902}"/>
              </a:ext>
            </a:extLst>
          </p:cNvPr>
          <p:cNvSpPr/>
          <p:nvPr userDrawn="1"/>
        </p:nvSpPr>
        <p:spPr>
          <a:xfrm rot="15809971">
            <a:off x="-5952557" y="7179514"/>
            <a:ext cx="6115584" cy="323794"/>
          </a:xfrm>
          <a:prstGeom prst="rightArrow">
            <a:avLst>
              <a:gd name="adj1" fmla="val 27852"/>
              <a:gd name="adj2" fmla="val 13189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4C3949C3-6C8F-E853-EAE4-5FF4BEEB5E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6540" y="4568236"/>
            <a:ext cx="686674" cy="460049"/>
          </a:xfrm>
          <a:prstGeom prst="rect">
            <a:avLst/>
          </a:prstGeom>
          <a:noFill/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DE32E5A6-9719-50F5-9631-57FB4D0051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25254" y="4715331"/>
            <a:ext cx="2944348" cy="239071"/>
          </a:xfrm>
          <a:prstGeom prst="rect">
            <a:avLst/>
          </a:prstGeom>
          <a:noFill/>
          <a:ln w="44450">
            <a:noFill/>
          </a:ln>
        </p:spPr>
      </p:pic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A1C99505-A1E3-7763-0F17-B539F942B608}"/>
              </a:ext>
            </a:extLst>
          </p:cNvPr>
          <p:cNvSpPr txBox="1"/>
          <p:nvPr userDrawn="1"/>
        </p:nvSpPr>
        <p:spPr>
          <a:xfrm>
            <a:off x="1059001" y="4583621"/>
            <a:ext cx="23775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00" b="1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rPr>
              <a:t>採用・インターンはキャリアセンターまで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ACA0F10F-9BED-739E-3FF0-76C93BE1B972}"/>
              </a:ext>
            </a:extLst>
          </p:cNvPr>
          <p:cNvSpPr txBox="1"/>
          <p:nvPr userDrawn="1"/>
        </p:nvSpPr>
        <p:spPr>
          <a:xfrm>
            <a:off x="1111127" y="4684764"/>
            <a:ext cx="2214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i="0" dirty="0">
                <a:solidFill>
                  <a:schemeClr val="bg2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06-6376-4733</a:t>
            </a:r>
            <a:endParaRPr kumimoji="1" lang="ja-JP" altLang="en-US" sz="2400" b="1" i="0">
              <a:solidFill>
                <a:schemeClr val="bg2">
                  <a:lumMod val="50000"/>
                </a:schemeClr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E4E629C1-F5A2-C755-66BC-45AEDD0E5CB8}"/>
              </a:ext>
            </a:extLst>
          </p:cNvPr>
          <p:cNvSpPr/>
          <p:nvPr userDrawn="1"/>
        </p:nvSpPr>
        <p:spPr>
          <a:xfrm>
            <a:off x="179388" y="9889949"/>
            <a:ext cx="7200900" cy="49706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8" name="図 77">
            <a:extLst>
              <a:ext uri="{FF2B5EF4-FFF2-40B4-BE49-F238E27FC236}">
                <a16:creationId xmlns:a16="http://schemas.microsoft.com/office/drawing/2014/main" id="{E17614D4-B289-BA2D-EFA9-4409C932A8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6540" y="9897474"/>
            <a:ext cx="686674" cy="460049"/>
          </a:xfrm>
          <a:prstGeom prst="rect">
            <a:avLst/>
          </a:prstGeom>
          <a:noFill/>
        </p:spPr>
      </p:pic>
      <p:pic>
        <p:nvPicPr>
          <p:cNvPr id="79" name="図 78">
            <a:extLst>
              <a:ext uri="{FF2B5EF4-FFF2-40B4-BE49-F238E27FC236}">
                <a16:creationId xmlns:a16="http://schemas.microsoft.com/office/drawing/2014/main" id="{1D7BADE1-C548-5114-6B08-C2E9BC17299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25254" y="10044569"/>
            <a:ext cx="2944348" cy="239071"/>
          </a:xfrm>
          <a:prstGeom prst="rect">
            <a:avLst/>
          </a:prstGeom>
          <a:noFill/>
          <a:ln w="44450">
            <a:noFill/>
          </a:ln>
        </p:spPr>
      </p:pic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6863FCE7-4F04-37F7-89A2-8F8047FE7036}"/>
              </a:ext>
            </a:extLst>
          </p:cNvPr>
          <p:cNvSpPr txBox="1"/>
          <p:nvPr userDrawn="1"/>
        </p:nvSpPr>
        <p:spPr>
          <a:xfrm>
            <a:off x="1059001" y="9912859"/>
            <a:ext cx="23775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00" b="1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rPr>
              <a:t>採用・インターンはキャリアセンターまで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C579B724-984F-4182-BA96-6882A49FD990}"/>
              </a:ext>
            </a:extLst>
          </p:cNvPr>
          <p:cNvSpPr txBox="1"/>
          <p:nvPr userDrawn="1"/>
        </p:nvSpPr>
        <p:spPr>
          <a:xfrm>
            <a:off x="1111127" y="10014002"/>
            <a:ext cx="2214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i="0" dirty="0">
                <a:solidFill>
                  <a:schemeClr val="bg2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06-6376-4733</a:t>
            </a:r>
            <a:endParaRPr kumimoji="1" lang="ja-JP" altLang="en-US" sz="2400" b="1" i="0">
              <a:solidFill>
                <a:schemeClr val="bg2">
                  <a:lumMod val="50000"/>
                </a:schemeClr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2C55816A-51A7-5A63-D5BE-EAA78F10B65A}"/>
              </a:ext>
            </a:extLst>
          </p:cNvPr>
          <p:cNvSpPr/>
          <p:nvPr userDrawn="1"/>
        </p:nvSpPr>
        <p:spPr>
          <a:xfrm>
            <a:off x="7931146" y="1134269"/>
            <a:ext cx="629291" cy="57208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>
            <a:extLst>
              <a:ext uri="{FF2B5EF4-FFF2-40B4-BE49-F238E27FC236}">
                <a16:creationId xmlns:a16="http://schemas.microsoft.com/office/drawing/2014/main" id="{C206B1C0-A5C8-FD61-F1F0-A9C0041A62E1}"/>
              </a:ext>
            </a:extLst>
          </p:cNvPr>
          <p:cNvSpPr/>
          <p:nvPr userDrawn="1"/>
        </p:nvSpPr>
        <p:spPr>
          <a:xfrm>
            <a:off x="8770708" y="1134269"/>
            <a:ext cx="629291" cy="57208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995F110-6192-F406-9EAB-EB1618E136A1}"/>
              </a:ext>
            </a:extLst>
          </p:cNvPr>
          <p:cNvSpPr txBox="1"/>
          <p:nvPr userDrawn="1"/>
        </p:nvSpPr>
        <p:spPr>
          <a:xfrm>
            <a:off x="7832857" y="1803592"/>
            <a:ext cx="825867" cy="223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b="1"/>
              <a:t>卒業前年次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11A6594B-B2A3-D96B-F760-D9DC821897F6}"/>
              </a:ext>
            </a:extLst>
          </p:cNvPr>
          <p:cNvSpPr txBox="1"/>
          <p:nvPr userDrawn="1"/>
        </p:nvSpPr>
        <p:spPr>
          <a:xfrm>
            <a:off x="8739461" y="1809036"/>
            <a:ext cx="697627" cy="223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b="1"/>
              <a:t>卒業年次</a:t>
            </a:r>
          </a:p>
        </p:txBody>
      </p:sp>
      <p:sp>
        <p:nvSpPr>
          <p:cNvPr id="36" name="円/楕円 35">
            <a:extLst>
              <a:ext uri="{FF2B5EF4-FFF2-40B4-BE49-F238E27FC236}">
                <a16:creationId xmlns:a16="http://schemas.microsoft.com/office/drawing/2014/main" id="{9FE50236-F90E-6B5B-C3E0-9799328CB5BC}"/>
              </a:ext>
            </a:extLst>
          </p:cNvPr>
          <p:cNvSpPr/>
          <p:nvPr userDrawn="1"/>
        </p:nvSpPr>
        <p:spPr>
          <a:xfrm>
            <a:off x="9610270" y="1126313"/>
            <a:ext cx="629291" cy="57208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8E9D9CE9-6983-8F5E-1BDD-01F48AC646FB}"/>
              </a:ext>
            </a:extLst>
          </p:cNvPr>
          <p:cNvSpPr txBox="1"/>
          <p:nvPr userDrawn="1"/>
        </p:nvSpPr>
        <p:spPr>
          <a:xfrm>
            <a:off x="9576101" y="1803592"/>
            <a:ext cx="697627" cy="223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b="1"/>
              <a:t>それ以外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7226FE5-8C1C-EED1-3CEA-A888A6D011B2}"/>
              </a:ext>
            </a:extLst>
          </p:cNvPr>
          <p:cNvSpPr txBox="1"/>
          <p:nvPr userDrawn="1"/>
        </p:nvSpPr>
        <p:spPr>
          <a:xfrm>
            <a:off x="8170631" y="504478"/>
            <a:ext cx="1980029" cy="475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 b="1" i="0">
                <a:latin typeface="Yu Gothic" panose="020B0400000000000000" pitchFamily="34" charset="-128"/>
                <a:ea typeface="Yu Gothic" panose="020B0400000000000000" pitchFamily="34" charset="-128"/>
              </a:rPr>
              <a:t>スポイトを使って</a:t>
            </a:r>
            <a:endParaRPr kumimoji="1" lang="en-US" altLang="ja-JP" sz="1400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ctr"/>
            <a:r>
              <a:rPr kumimoji="1" lang="ja-JP" altLang="en-US" sz="1400" b="1" i="0">
                <a:latin typeface="Yu Gothic" panose="020B0400000000000000" pitchFamily="34" charset="-128"/>
                <a:ea typeface="Yu Gothic" panose="020B0400000000000000" pitchFamily="34" charset="-128"/>
              </a:rPr>
              <a:t>以下の色に設定しよう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CAFFEA41-CDE6-99B4-9850-F1858F3635B6}"/>
              </a:ext>
            </a:extLst>
          </p:cNvPr>
          <p:cNvSpPr txBox="1"/>
          <p:nvPr userDrawn="1"/>
        </p:nvSpPr>
        <p:spPr>
          <a:xfrm>
            <a:off x="8275201" y="5824311"/>
            <a:ext cx="3738524" cy="116955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chemeClr val="bg1"/>
                </a:solidFill>
              </a:rPr>
              <a:t>オビ部分（作品番号・作品名）のフォントは</a:t>
            </a:r>
            <a:endParaRPr kumimoji="1" lang="en-US" altLang="ja-JP" sz="1200" b="1">
              <a:solidFill>
                <a:schemeClr val="bg1"/>
              </a:solidFill>
            </a:endParaRPr>
          </a:p>
          <a:p>
            <a:pPr algn="ctr"/>
            <a:endParaRPr kumimoji="1" lang="en-US" altLang="ja-JP" sz="1200" b="1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b="1">
                <a:solidFill>
                  <a:schemeClr val="bg1"/>
                </a:solidFill>
              </a:rPr>
              <a:t>「游ゴシック」で統一する事</a:t>
            </a:r>
            <a:endParaRPr kumimoji="1" lang="en-US" altLang="ja-JP" b="1">
              <a:solidFill>
                <a:schemeClr val="bg1"/>
              </a:solidFill>
            </a:endParaRPr>
          </a:p>
          <a:p>
            <a:pPr algn="ctr"/>
            <a:r>
              <a:rPr kumimoji="1" lang="en-US" altLang="ja-JP" sz="1400" b="0">
                <a:solidFill>
                  <a:schemeClr val="bg1"/>
                </a:solidFill>
              </a:rPr>
              <a:t>※I</a:t>
            </a:r>
            <a:r>
              <a:rPr kumimoji="1" lang="ja-JP" altLang="en-US" sz="1400" b="0">
                <a:solidFill>
                  <a:schemeClr val="bg1"/>
                </a:solidFill>
              </a:rPr>
              <a:t>か</a:t>
            </a:r>
            <a:r>
              <a:rPr kumimoji="1" lang="en-US" altLang="ja-JP" sz="1400" b="0">
                <a:solidFill>
                  <a:schemeClr val="bg1"/>
                </a:solidFill>
              </a:rPr>
              <a:t>W</a:t>
            </a:r>
            <a:r>
              <a:rPr kumimoji="1" lang="ja-JP" altLang="en-US" sz="1400" b="0">
                <a:solidFill>
                  <a:schemeClr val="bg1"/>
                </a:solidFill>
              </a:rPr>
              <a:t>だけは游明朝体</a:t>
            </a:r>
            <a:endParaRPr kumimoji="1" lang="en-US" altLang="ja-JP" sz="1400" b="0">
              <a:solidFill>
                <a:schemeClr val="bg1"/>
              </a:solidFill>
            </a:endParaRPr>
          </a:p>
          <a:p>
            <a:pPr algn="ctr"/>
            <a:r>
              <a:rPr kumimoji="1" lang="ja-JP" altLang="en-US" sz="1400" b="0">
                <a:solidFill>
                  <a:schemeClr val="bg1"/>
                </a:solidFill>
              </a:rPr>
              <a:t>（無ければ別の明朝で</a:t>
            </a:r>
            <a:r>
              <a:rPr kumimoji="1" lang="en-US" altLang="ja-JP" sz="1400" b="0">
                <a:solidFill>
                  <a:schemeClr val="bg1"/>
                </a:solidFill>
              </a:rPr>
              <a:t>OK</a:t>
            </a:r>
            <a:r>
              <a:rPr kumimoji="1" lang="ja-JP" altLang="en-US" sz="1400" b="0">
                <a:solidFill>
                  <a:schemeClr val="bg1"/>
                </a:solidFill>
              </a:rPr>
              <a:t>）</a:t>
            </a:r>
            <a:endParaRPr kumimoji="1" lang="en-US" altLang="ja-JP" sz="1400" b="0" dirty="0">
              <a:solidFill>
                <a:schemeClr val="bg1"/>
              </a:solidFill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5C1CAE0-E89B-F267-147A-396C2AD5345E}"/>
              </a:ext>
            </a:extLst>
          </p:cNvPr>
          <p:cNvSpPr txBox="1"/>
          <p:nvPr userDrawn="1"/>
        </p:nvSpPr>
        <p:spPr>
          <a:xfrm>
            <a:off x="7733930" y="18380"/>
            <a:ext cx="508473" cy="699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400" b="1" i="0" dirty="0">
                <a:latin typeface="Yu Gothic" panose="020B0400000000000000" pitchFamily="34" charset="-128"/>
                <a:ea typeface="Yu Gothic" panose="020B0400000000000000" pitchFamily="34" charset="-128"/>
              </a:rPr>
              <a:t>1</a:t>
            </a:r>
            <a:endParaRPr kumimoji="1" lang="ja-JP" altLang="en-US" sz="4400" b="1" i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C71A01F-8955-CC35-5259-60513613F2D7}"/>
              </a:ext>
            </a:extLst>
          </p:cNvPr>
          <p:cNvSpPr txBox="1"/>
          <p:nvPr userDrawn="1"/>
        </p:nvSpPr>
        <p:spPr>
          <a:xfrm>
            <a:off x="8159776" y="6079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b="1" i="0">
                <a:latin typeface="Yu Gothic" panose="020B0400000000000000" pitchFamily="34" charset="-128"/>
                <a:ea typeface="Yu Gothic" panose="020B0400000000000000" pitchFamily="34" charset="-128"/>
              </a:rPr>
              <a:t>左のオビを自分の色に変更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95AC5607-B770-863B-53A8-B57544185A17}"/>
              </a:ext>
            </a:extLst>
          </p:cNvPr>
          <p:cNvSpPr txBox="1"/>
          <p:nvPr userDrawn="1"/>
        </p:nvSpPr>
        <p:spPr>
          <a:xfrm>
            <a:off x="7733930" y="2323643"/>
            <a:ext cx="5084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400" b="1" i="0" dirty="0">
                <a:latin typeface="Yu Gothic" panose="020B0400000000000000" pitchFamily="34" charset="-128"/>
                <a:ea typeface="Yu Gothic" panose="020B0400000000000000" pitchFamily="34" charset="-128"/>
              </a:rPr>
              <a:t>2</a:t>
            </a:r>
            <a:endParaRPr kumimoji="1" lang="ja-JP" altLang="en-US" sz="4400" b="1" i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1B5BC141-A526-4737-F730-CC9BE8FC6EB7}"/>
              </a:ext>
            </a:extLst>
          </p:cNvPr>
          <p:cNvSpPr txBox="1"/>
          <p:nvPr userDrawn="1"/>
        </p:nvSpPr>
        <p:spPr>
          <a:xfrm>
            <a:off x="8275201" y="2323643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b="1" i="0">
                <a:latin typeface="Yu Gothic" panose="020B0400000000000000" pitchFamily="34" charset="-128"/>
                <a:ea typeface="Yu Gothic" panose="020B0400000000000000" pitchFamily="34" charset="-128"/>
              </a:rPr>
              <a:t>作品番号を自分の番号に変更</a:t>
            </a:r>
            <a:endParaRPr kumimoji="1" lang="en-US" altLang="ja-JP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b="1" i="0">
                <a:latin typeface="Yu Gothic" panose="020B0400000000000000" pitchFamily="34" charset="-128"/>
                <a:ea typeface="Yu Gothic" panose="020B0400000000000000" pitchFamily="34" charset="-128"/>
              </a:rPr>
              <a:t>分野と年卒を変更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D333049D-691E-48BE-1188-0E12E441E6E5}"/>
              </a:ext>
            </a:extLst>
          </p:cNvPr>
          <p:cNvSpPr txBox="1"/>
          <p:nvPr userDrawn="1"/>
        </p:nvSpPr>
        <p:spPr>
          <a:xfrm>
            <a:off x="7733930" y="4882975"/>
            <a:ext cx="5084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400" b="1" i="0" dirty="0">
                <a:latin typeface="Yu Gothic" panose="020B0400000000000000" pitchFamily="34" charset="-128"/>
                <a:ea typeface="Yu Gothic" panose="020B0400000000000000" pitchFamily="34" charset="-128"/>
              </a:rPr>
              <a:t>3</a:t>
            </a:r>
            <a:endParaRPr kumimoji="1" lang="ja-JP" altLang="en-US" sz="4400" b="1" i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442DC61-C85C-A5E5-9E44-006C9CA965D8}"/>
              </a:ext>
            </a:extLst>
          </p:cNvPr>
          <p:cNvSpPr txBox="1"/>
          <p:nvPr userDrawn="1"/>
        </p:nvSpPr>
        <p:spPr>
          <a:xfrm>
            <a:off x="8159776" y="4897489"/>
            <a:ext cx="42001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b="1" i="0">
                <a:latin typeface="Yu Gothic" panose="020B0400000000000000" pitchFamily="34" charset="-128"/>
                <a:ea typeface="Yu Gothic" panose="020B0400000000000000" pitchFamily="34" charset="-128"/>
              </a:rPr>
              <a:t>サンプルを参考に</a:t>
            </a:r>
            <a:endParaRPr kumimoji="1" lang="en-US" altLang="ja-JP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b="1" i="0">
                <a:latin typeface="Yu Gothic" panose="020B0400000000000000" pitchFamily="34" charset="-128"/>
                <a:ea typeface="Yu Gothic" panose="020B0400000000000000" pitchFamily="34" charset="-128"/>
              </a:rPr>
              <a:t>自由に自己</a:t>
            </a:r>
            <a:r>
              <a:rPr kumimoji="1" lang="en-US" altLang="ja-JP" b="1" i="0" dirty="0">
                <a:latin typeface="Yu Gothic" panose="020B0400000000000000" pitchFamily="34" charset="-128"/>
                <a:ea typeface="Yu Gothic" panose="020B0400000000000000" pitchFamily="34" charset="-128"/>
              </a:rPr>
              <a:t>PR</a:t>
            </a:r>
            <a:r>
              <a:rPr kumimoji="1" lang="ja-JP" altLang="en-US" b="1" i="0">
                <a:latin typeface="Yu Gothic" panose="020B0400000000000000" pitchFamily="34" charset="-128"/>
                <a:ea typeface="Yu Gothic" panose="020B0400000000000000" pitchFamily="34" charset="-128"/>
              </a:rPr>
              <a:t>シートを作りましょう。</a:t>
            </a:r>
            <a:endParaRPr kumimoji="1" lang="en-US" altLang="ja-JP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b="1" i="0">
                <a:latin typeface="Yu Gothic" panose="020B0400000000000000" pitchFamily="34" charset="-128"/>
                <a:ea typeface="Yu Gothic" panose="020B0400000000000000" pitchFamily="34" charset="-128"/>
              </a:rPr>
              <a:t>最低限、下の要素は入れること</a:t>
            </a:r>
          </a:p>
        </p:txBody>
      </p:sp>
      <p:sp>
        <p:nvSpPr>
          <p:cNvPr id="57" name="角丸四角形 56">
            <a:extLst>
              <a:ext uri="{FF2B5EF4-FFF2-40B4-BE49-F238E27FC236}">
                <a16:creationId xmlns:a16="http://schemas.microsoft.com/office/drawing/2014/main" id="{434C7430-D3B1-BDFB-9F5F-615744510F08}"/>
              </a:ext>
            </a:extLst>
          </p:cNvPr>
          <p:cNvSpPr/>
          <p:nvPr userDrawn="1"/>
        </p:nvSpPr>
        <p:spPr>
          <a:xfrm>
            <a:off x="8334188" y="10007035"/>
            <a:ext cx="3730172" cy="2010253"/>
          </a:xfrm>
          <a:prstGeom prst="roundRect">
            <a:avLst>
              <a:gd name="adj" fmla="val 77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円/楕円 58">
            <a:extLst>
              <a:ext uri="{FF2B5EF4-FFF2-40B4-BE49-F238E27FC236}">
                <a16:creationId xmlns:a16="http://schemas.microsoft.com/office/drawing/2014/main" id="{9D2185B8-83E3-99A7-6055-944764E1AD13}"/>
              </a:ext>
            </a:extLst>
          </p:cNvPr>
          <p:cNvSpPr/>
          <p:nvPr userDrawn="1"/>
        </p:nvSpPr>
        <p:spPr>
          <a:xfrm>
            <a:off x="8411915" y="3158718"/>
            <a:ext cx="441621" cy="44162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  <a:latin typeface="Yu Mincho Demibold" panose="02020400000000000000" pitchFamily="18" charset="-128"/>
                <a:ea typeface="Yu Mincho Demibold" panose="02020400000000000000" pitchFamily="18" charset="-128"/>
              </a:rPr>
              <a:t>I</a:t>
            </a:r>
            <a:endParaRPr kumimoji="1" lang="ja-JP" altLang="en-US" b="1">
              <a:solidFill>
                <a:schemeClr val="bg1"/>
              </a:solidFill>
              <a:latin typeface="Yu Mincho Demibold" panose="02020400000000000000" pitchFamily="18" charset="-128"/>
              <a:ea typeface="Yu Mincho Demibold" panose="02020400000000000000" pitchFamily="18" charset="-128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ACE8C134-0946-FE20-D0F7-6042D3F5ECF9}"/>
              </a:ext>
            </a:extLst>
          </p:cNvPr>
          <p:cNvSpPr txBox="1"/>
          <p:nvPr userDrawn="1"/>
        </p:nvSpPr>
        <p:spPr>
          <a:xfrm>
            <a:off x="8805959" y="3228255"/>
            <a:ext cx="681597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en-US" altLang="ja-JP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30</a:t>
            </a:r>
            <a:r>
              <a:rPr kumimoji="1" lang="ja-JP" altLang="en-US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－</a:t>
            </a:r>
            <a:endParaRPr kumimoji="1" lang="ja-JP" altLang="en-US" sz="4800" b="1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AB8B6EC3-4C6B-C3CE-EDA4-3D9FACEA10B1}"/>
              </a:ext>
            </a:extLst>
          </p:cNvPr>
          <p:cNvSpPr txBox="1"/>
          <p:nvPr userDrawn="1"/>
        </p:nvSpPr>
        <p:spPr>
          <a:xfrm>
            <a:off x="9284026" y="3005443"/>
            <a:ext cx="159530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kumimoji="1" lang="en-US" altLang="ja-JP" sz="4800" b="1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0048</a:t>
            </a:r>
            <a:endParaRPr kumimoji="1" lang="ja-JP" altLang="en-US" sz="4800" b="1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4CA9D78B-8FF9-B81B-530D-5AA6D015F607}"/>
              </a:ext>
            </a:extLst>
          </p:cNvPr>
          <p:cNvSpPr txBox="1"/>
          <p:nvPr userDrawn="1"/>
        </p:nvSpPr>
        <p:spPr>
          <a:xfrm>
            <a:off x="7935755" y="3935476"/>
            <a:ext cx="884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I=IT</a:t>
            </a:r>
          </a:p>
          <a:p>
            <a:r>
              <a:rPr kumimoji="1" lang="en-US" altLang="ja-JP" dirty="0"/>
              <a:t>W-Web</a:t>
            </a:r>
            <a:endParaRPr kumimoji="1" lang="ja-JP" altLang="en-US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274A977C-EA26-5466-EA77-6C0DE4F13519}"/>
              </a:ext>
            </a:extLst>
          </p:cNvPr>
          <p:cNvSpPr txBox="1"/>
          <p:nvPr userDrawn="1"/>
        </p:nvSpPr>
        <p:spPr>
          <a:xfrm>
            <a:off x="8728183" y="387907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/>
              <a:t>作品としての</a:t>
            </a:r>
            <a:endParaRPr kumimoji="1" lang="en-US" altLang="ja-JP" sz="1200" b="1" dirty="0"/>
          </a:p>
          <a:p>
            <a:r>
              <a:rPr kumimoji="1" lang="ja-JP" altLang="en-US" sz="1200" b="1"/>
              <a:t>年卒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A23798F6-BE46-29F9-F58A-BDF86809A116}"/>
              </a:ext>
            </a:extLst>
          </p:cNvPr>
          <p:cNvSpPr txBox="1"/>
          <p:nvPr userDrawn="1"/>
        </p:nvSpPr>
        <p:spPr>
          <a:xfrm>
            <a:off x="10092971" y="3992695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/>
              <a:t>与えられた番号</a:t>
            </a:r>
          </a:p>
        </p:txBody>
      </p: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0E124956-6189-CB7A-BDB9-1BF3E4CE83B1}"/>
              </a:ext>
            </a:extLst>
          </p:cNvPr>
          <p:cNvCxnSpPr/>
          <p:nvPr userDrawn="1"/>
        </p:nvCxnSpPr>
        <p:spPr>
          <a:xfrm>
            <a:off x="8883090" y="3691719"/>
            <a:ext cx="2775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463CCA35-A758-B81E-6686-8A3C37A659A1}"/>
              </a:ext>
            </a:extLst>
          </p:cNvPr>
          <p:cNvCxnSpPr>
            <a:cxnSpLocks/>
          </p:cNvCxnSpPr>
          <p:nvPr userDrawn="1"/>
        </p:nvCxnSpPr>
        <p:spPr>
          <a:xfrm>
            <a:off x="9405604" y="3691719"/>
            <a:ext cx="147373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CC6029AF-95A8-6CAF-4148-FCCCCC118732}"/>
              </a:ext>
            </a:extLst>
          </p:cNvPr>
          <p:cNvCxnSpPr>
            <a:cxnSpLocks/>
          </p:cNvCxnSpPr>
          <p:nvPr userDrawn="1"/>
        </p:nvCxnSpPr>
        <p:spPr>
          <a:xfrm>
            <a:off x="9885417" y="3717906"/>
            <a:ext cx="641258" cy="23690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44827EBA-A7C3-EEC8-EAA4-BE0998765C88}"/>
              </a:ext>
            </a:extLst>
          </p:cNvPr>
          <p:cNvCxnSpPr>
            <a:cxnSpLocks/>
          </p:cNvCxnSpPr>
          <p:nvPr userDrawn="1"/>
        </p:nvCxnSpPr>
        <p:spPr>
          <a:xfrm>
            <a:off x="9041250" y="3691719"/>
            <a:ext cx="0" cy="20201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C4A92127-9145-E4DC-AF67-765030C64351}"/>
              </a:ext>
            </a:extLst>
          </p:cNvPr>
          <p:cNvCxnSpPr>
            <a:cxnSpLocks/>
          </p:cNvCxnSpPr>
          <p:nvPr userDrawn="1"/>
        </p:nvCxnSpPr>
        <p:spPr>
          <a:xfrm flipH="1">
            <a:off x="8348590" y="3621481"/>
            <a:ext cx="201085" cy="35144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D83C2C32-36DC-55BC-C06C-F3A61FF3C491}"/>
              </a:ext>
            </a:extLst>
          </p:cNvPr>
          <p:cNvSpPr txBox="1"/>
          <p:nvPr userDrawn="1"/>
        </p:nvSpPr>
        <p:spPr>
          <a:xfrm>
            <a:off x="8159776" y="8273116"/>
            <a:ext cx="449353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b="1" i="0">
                <a:latin typeface="Yu Gothic" panose="020B0400000000000000" pitchFamily="34" charset="-128"/>
                <a:ea typeface="Yu Gothic" panose="020B0400000000000000" pitchFamily="34" charset="-128"/>
              </a:rPr>
              <a:t>▼自分について</a:t>
            </a:r>
            <a:endParaRPr kumimoji="1" lang="en-US" altLang="ja-JP" sz="1400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sz="1200" b="1" i="0">
                <a:latin typeface="Yu Gothic" panose="020B0400000000000000" pitchFamily="34" charset="-128"/>
                <a:ea typeface="Yu Gothic" panose="020B0400000000000000" pitchFamily="34" charset="-128"/>
              </a:rPr>
              <a:t>コースのフルネームと学年・名前・年卒・</a:t>
            </a:r>
            <a:endParaRPr kumimoji="1" lang="en-US" altLang="ja-JP" sz="1200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sz="1200" b="1" i="0">
                <a:latin typeface="Yu Gothic" panose="020B0400000000000000" pitchFamily="34" charset="-128"/>
                <a:ea typeface="Yu Gothic" panose="020B0400000000000000" pitchFamily="34" charset="-128"/>
              </a:rPr>
              <a:t>志望職種や自分をアピールする項目</a:t>
            </a:r>
            <a:endParaRPr kumimoji="1" lang="en-US" altLang="ja-JP" sz="1200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sz="1400" b="1" i="0">
                <a:solidFill>
                  <a:srgbClr val="FF000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自分が使える使用技術など目立つように載せましょう</a:t>
            </a:r>
            <a:endParaRPr kumimoji="1" lang="en-US" altLang="ja-JP" sz="1400" b="1" i="0">
              <a:solidFill>
                <a:srgbClr val="FF0000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endParaRPr kumimoji="1" lang="en-US" altLang="ja-JP" b="1" i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sz="1400" b="1" i="0">
                <a:latin typeface="Yu Gothic" panose="020B0400000000000000" pitchFamily="34" charset="-128"/>
                <a:ea typeface="Yu Gothic" panose="020B0400000000000000" pitchFamily="34" charset="-128"/>
              </a:rPr>
              <a:t>▼作品について</a:t>
            </a:r>
            <a:endParaRPr kumimoji="1" lang="en-US" altLang="ja-JP" sz="1400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sz="1200" b="1" i="0">
                <a:latin typeface="Yu Gothic" panose="020B0400000000000000" pitchFamily="34" charset="-128"/>
                <a:ea typeface="Yu Gothic" panose="020B0400000000000000" pitchFamily="34" charset="-128"/>
              </a:rPr>
              <a:t>作品名（オビの右側）・キャッチコピー・作品のスクショ等</a:t>
            </a:r>
            <a:endParaRPr kumimoji="1" lang="en-US" altLang="ja-JP" sz="1200" b="1" i="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algn="l"/>
            <a:r>
              <a:rPr kumimoji="1" lang="ja-JP" altLang="en-US" sz="1200" b="1" i="0">
                <a:latin typeface="Yu Gothic" panose="020B0400000000000000" pitchFamily="34" charset="-128"/>
                <a:ea typeface="Yu Gothic" panose="020B0400000000000000" pitchFamily="34" charset="-128"/>
              </a:rPr>
              <a:t>利用者のメリットがわかる説明や図解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21E15FB6-596D-2E59-AAE0-83903BA9E14F}"/>
              </a:ext>
            </a:extLst>
          </p:cNvPr>
          <p:cNvSpPr txBox="1"/>
          <p:nvPr userDrawn="1"/>
        </p:nvSpPr>
        <p:spPr>
          <a:xfrm>
            <a:off x="8641490" y="10125403"/>
            <a:ext cx="300595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>
                <a:latin typeface="+mn-ea"/>
              </a:rPr>
              <a:t>【</a:t>
            </a:r>
            <a:r>
              <a:rPr kumimoji="1" lang="ja-JP" altLang="en-US" b="1">
                <a:latin typeface="+mn-ea"/>
              </a:rPr>
              <a:t>素材群</a:t>
            </a:r>
            <a:r>
              <a:rPr kumimoji="1" lang="en-US" altLang="ja-JP" b="1" dirty="0">
                <a:latin typeface="+mn-ea"/>
              </a:rPr>
              <a:t>】</a:t>
            </a:r>
          </a:p>
          <a:p>
            <a:pPr algn="ctr"/>
            <a:r>
              <a:rPr kumimoji="1" lang="ja-JP" altLang="en-US" sz="1000" b="1">
                <a:latin typeface="+mn-ea"/>
              </a:rPr>
              <a:t>（この中のアイテムはエリア内に移動できます。</a:t>
            </a:r>
            <a:endParaRPr kumimoji="1" lang="en-US" altLang="ja-JP" sz="1000" b="1">
              <a:latin typeface="+mn-ea"/>
            </a:endParaRPr>
          </a:p>
          <a:p>
            <a:pPr algn="ctr"/>
            <a:r>
              <a:rPr kumimoji="1" lang="ja-JP" altLang="en-US" sz="1000" b="1">
                <a:latin typeface="+mn-ea"/>
              </a:rPr>
              <a:t>オリジナルパーツを作っても可）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2EADA2B-89AB-5ADC-0B9D-E1EC3235FA99}"/>
              </a:ext>
            </a:extLst>
          </p:cNvPr>
          <p:cNvSpPr txBox="1"/>
          <p:nvPr userDrawn="1"/>
        </p:nvSpPr>
        <p:spPr>
          <a:xfrm>
            <a:off x="8275201" y="7083267"/>
            <a:ext cx="3738524" cy="1015663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chemeClr val="bg1"/>
                </a:solidFill>
              </a:rPr>
              <a:t>それ以外の箇所は</a:t>
            </a:r>
            <a:endParaRPr kumimoji="1" lang="en-US" altLang="ja-JP" sz="1200" b="1">
              <a:solidFill>
                <a:schemeClr val="bg1"/>
              </a:solidFill>
            </a:endParaRPr>
          </a:p>
          <a:p>
            <a:pPr algn="ctr"/>
            <a:endParaRPr kumimoji="1" lang="en-US" altLang="ja-JP" sz="1200" b="1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b="1">
                <a:solidFill>
                  <a:schemeClr val="bg1"/>
                </a:solidFill>
              </a:rPr>
              <a:t>フォント自由</a:t>
            </a:r>
            <a:endParaRPr kumimoji="1" lang="en-US" altLang="ja-JP" b="1">
              <a:solidFill>
                <a:schemeClr val="bg1"/>
              </a:solidFill>
            </a:endParaRPr>
          </a:p>
          <a:p>
            <a:pPr algn="ctr"/>
            <a:r>
              <a:rPr kumimoji="1" lang="ja-JP" altLang="en-US" b="1">
                <a:solidFill>
                  <a:schemeClr val="bg1"/>
                </a:solidFill>
              </a:rPr>
              <a:t>大きさ・配置自由</a:t>
            </a:r>
            <a:endParaRPr kumimoji="1" lang="en-US" altLang="ja-JP" sz="14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39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kumimoji="1"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68" userDrawn="1">
          <p15:clr>
            <a:srgbClr val="F26B43"/>
          </p15:clr>
        </p15:guide>
        <p15:guide id="2" pos="2381" userDrawn="1">
          <p15:clr>
            <a:srgbClr val="F26B43"/>
          </p15:clr>
        </p15:guide>
        <p15:guide id="3" pos="113" userDrawn="1">
          <p15:clr>
            <a:srgbClr val="F26B43"/>
          </p15:clr>
        </p15:guide>
        <p15:guide id="4" pos="4649" userDrawn="1">
          <p15:clr>
            <a:srgbClr val="F26B43"/>
          </p15:clr>
        </p15:guide>
        <p15:guide id="5" orient="horz" pos="192" userDrawn="1">
          <p15:clr>
            <a:srgbClr val="F26B43"/>
          </p15:clr>
        </p15:guide>
        <p15:guide id="6" orient="horz" pos="6543" userDrawn="1">
          <p15:clr>
            <a:srgbClr val="F26B43"/>
          </p15:clr>
        </p15:guide>
        <p15:guide id="7" orient="horz" pos="3549" userDrawn="1">
          <p15:clr>
            <a:srgbClr val="F26B43"/>
          </p15:clr>
        </p15:guide>
        <p15:guide id="8" orient="horz" pos="318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shot_map.png"/><Relationship Id="rId11" Type="http://schemas.openxmlformats.org/officeDocument/2006/relationships/image" Target="../media/shot_member.png"/><Relationship Id="rId12" Type="http://schemas.openxmlformats.org/officeDocument/2006/relationships/image" Target="../media/shot_sos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0E8C2E1-6D0C-EC30-12D6-C2C531E7A100}"/>
              </a:ext>
            </a:extLst>
          </p:cNvPr>
          <p:cNvSpPr/>
          <p:nvPr/>
        </p:nvSpPr>
        <p:spPr>
          <a:xfrm>
            <a:off x="179389" y="5633883"/>
            <a:ext cx="7200899" cy="6489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highlight>
                <a:srgbClr val="FFFF00"/>
              </a:highlight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775D71-4F1B-E775-8B39-39FE5125E1F9}"/>
              </a:ext>
            </a:extLst>
          </p:cNvPr>
          <p:cNvSpPr/>
          <p:nvPr/>
        </p:nvSpPr>
        <p:spPr>
          <a:xfrm>
            <a:off x="179389" y="304801"/>
            <a:ext cx="7200899" cy="648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highlight>
                <a:srgbClr val="FFFF00"/>
              </a:highlight>
            </a:endParaRPr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0170A680-0351-C3D4-3482-A7B51D1D1796}"/>
              </a:ext>
            </a:extLst>
          </p:cNvPr>
          <p:cNvSpPr/>
          <p:nvPr/>
        </p:nvSpPr>
        <p:spPr>
          <a:xfrm>
            <a:off x="279141" y="395840"/>
            <a:ext cx="441621" cy="4416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b="1" dirty="0">
                <a:solidFill>
                  <a:schemeClr val="tx1"/>
                </a:solidFill>
                <a:latin typeface="Yu Mincho Demibold" panose="02020400000000000000" pitchFamily="18" charset="-128"/>
                <a:ea typeface="Yu Mincho Demibold" panose="02020400000000000000" pitchFamily="18" charset="-128"/>
              </a:rPr>
              <a:t>I</a:t>
            </a:r>
            <a:endParaRPr kumimoji="1" lang="ja-JP" altLang="en-US" b="1">
              <a:solidFill>
                <a:schemeClr val="tx1"/>
              </a:solidFill>
              <a:latin typeface="Yu Mincho Demibold" panose="02020400000000000000" pitchFamily="18" charset="-128"/>
              <a:ea typeface="Yu Mincho Demibold" panose="02020400000000000000" pitchFamily="18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B5ADF0C-C3C3-8864-62D8-663D1D4E116B}"/>
              </a:ext>
            </a:extLst>
          </p:cNvPr>
          <p:cNvSpPr txBox="1"/>
          <p:nvPr/>
        </p:nvSpPr>
        <p:spPr>
          <a:xfrm>
            <a:off x="673185" y="465377"/>
            <a:ext cx="643125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en-US" altLang="ja-JP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99</a:t>
            </a:r>
            <a:r>
              <a:rPr kumimoji="1" lang="ja-JP" altLang="en-US" b="1" spc="-300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－</a:t>
            </a:r>
            <a:endParaRPr kumimoji="1" lang="ja-JP" altLang="en-US" sz="4800" b="1" spc="-300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4F747D4-F628-2644-CE01-83D59BB40897}"/>
              </a:ext>
            </a:extLst>
          </p:cNvPr>
          <p:cNvSpPr txBox="1"/>
          <p:nvPr/>
        </p:nvSpPr>
        <p:spPr>
          <a:xfrm>
            <a:off x="1151251" y="242565"/>
            <a:ext cx="159530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en-US" altLang="ja-JP" sz="4800" b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0002</a:t>
            </a:r>
            <a:endParaRPr kumimoji="1" lang="ja-JP" altLang="en-US" sz="48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円/楕円 13">
            <a:extLst>
              <a:ext uri="{FF2B5EF4-FFF2-40B4-BE49-F238E27FC236}">
                <a16:creationId xmlns:a16="http://schemas.microsoft.com/office/drawing/2014/main" id="{44E415F3-5CBD-0E1C-4775-D87804F12F81}"/>
              </a:ext>
            </a:extLst>
          </p:cNvPr>
          <p:cNvSpPr/>
          <p:nvPr/>
        </p:nvSpPr>
        <p:spPr>
          <a:xfrm>
            <a:off x="279141" y="5733811"/>
            <a:ext cx="441621" cy="4416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b="1" dirty="0">
                <a:solidFill>
                  <a:schemeClr val="tx1"/>
                </a:solidFill>
                <a:latin typeface="Yu Mincho Demibold" panose="02020400000000000000" pitchFamily="18" charset="-128"/>
                <a:ea typeface="Yu Mincho Demibold" panose="02020400000000000000" pitchFamily="18" charset="-128"/>
              </a:rPr>
              <a:t>I</a:t>
            </a:r>
            <a:endParaRPr kumimoji="1" lang="ja-JP" altLang="en-US" b="1">
              <a:solidFill>
                <a:schemeClr val="tx1"/>
              </a:solidFill>
              <a:latin typeface="Yu Mincho Demibold" panose="02020400000000000000" pitchFamily="18" charset="-128"/>
              <a:ea typeface="Yu Mincho Demibold" panose="02020400000000000000" pitchFamily="18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F6C6249-068C-9B24-B5D8-8DE83C6A8550}"/>
              </a:ext>
            </a:extLst>
          </p:cNvPr>
          <p:cNvSpPr txBox="1"/>
          <p:nvPr/>
        </p:nvSpPr>
        <p:spPr>
          <a:xfrm>
            <a:off x="673185" y="5803348"/>
            <a:ext cx="681597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en-US" altLang="ja-JP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99</a:t>
            </a:r>
            <a:r>
              <a:rPr kumimoji="1" lang="ja-JP" altLang="en-US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－</a:t>
            </a:r>
            <a:endParaRPr kumimoji="1" lang="ja-JP" altLang="en-US" sz="48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AAE6E59-9D97-EB2A-B5F1-3C8C8CDA28D3}"/>
              </a:ext>
            </a:extLst>
          </p:cNvPr>
          <p:cNvSpPr txBox="1"/>
          <p:nvPr/>
        </p:nvSpPr>
        <p:spPr>
          <a:xfrm>
            <a:off x="1151252" y="5580536"/>
            <a:ext cx="1595309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en-US" altLang="ja-JP" sz="4800" b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0002</a:t>
            </a:r>
            <a:endParaRPr kumimoji="1" lang="ja-JP" altLang="en-US" sz="48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4D186A8-138E-317C-D522-8F7ACFA95753}"/>
              </a:ext>
            </a:extLst>
          </p:cNvPr>
          <p:cNvSpPr txBox="1"/>
          <p:nvPr/>
        </p:nvSpPr>
        <p:spPr>
          <a:xfrm>
            <a:off x="2974914" y="458710"/>
            <a:ext cx="4405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 b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Shareme（シェアミー）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36CB3945-B0A1-2A9F-CF08-3C4A3474F466}"/>
              </a:ext>
            </a:extLst>
          </p:cNvPr>
          <p:cNvSpPr txBox="1"/>
          <p:nvPr/>
        </p:nvSpPr>
        <p:spPr>
          <a:xfrm>
            <a:off x="3040572" y="5797287"/>
            <a:ext cx="4339714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r"/>
            <a:r>
              <a:rPr lang="ja-JP" b="1">
                <a:solidFill>
                  <a:schemeClr val="bg1"/>
                </a:solidFill>
                <a:latin typeface="Yu Gothic"/>
                <a:ea typeface="Yu Gothic"/>
              </a:rPr>
              <a:t>Shareme（シェアミー）</a:t>
            </a:r>
            <a:endParaRPr lang="ja-JP">
              <a:solidFill>
                <a:schemeClr val="bg1"/>
              </a:solidFill>
              <a:latin typeface="Yu Gothic"/>
              <a:ea typeface="Yu Gothic"/>
            </a:endParaRPr>
          </a:p>
          <a:p>
            <a:pPr algn="r"/>
            <a:endParaRPr lang="ja-JP" altLang="en-US" b="1" dirty="0">
              <a:solidFill>
                <a:schemeClr val="bg1"/>
              </a:solidFill>
              <a:latin typeface="Yu Gothic"/>
              <a:ea typeface="Yu Gothic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5124F47-0F7D-0EDC-6988-5F041B82C496}"/>
              </a:ext>
            </a:extLst>
          </p:cNvPr>
          <p:cNvSpPr txBox="1"/>
          <p:nvPr/>
        </p:nvSpPr>
        <p:spPr>
          <a:xfrm>
            <a:off x="9106063" y="11447772"/>
            <a:ext cx="1943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3200" b="1">
                <a:latin typeface="Yu Gothic" panose="020B0400000000000000" pitchFamily="34" charset="-128"/>
                <a:ea typeface="Yu Gothic" panose="020B0400000000000000" pitchFamily="34" charset="-128"/>
              </a:rPr>
              <a:t>石志</a:t>
            </a:r>
            <a:r>
              <a:rPr kumimoji="1" lang="en-US" altLang="ja-JP" sz="3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kumimoji="1" lang="ja-JP" altLang="en-US" sz="3200" b="1">
                <a:latin typeface="Yu Gothic" panose="020B0400000000000000" pitchFamily="34" charset="-128"/>
                <a:ea typeface="Yu Gothic" panose="020B0400000000000000" pitchFamily="34" charset="-128"/>
              </a:rPr>
              <a:t>太郎</a:t>
            </a: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25A63DF4-115C-9EC2-24A1-30922C98B75E}"/>
              </a:ext>
            </a:extLst>
          </p:cNvPr>
          <p:cNvGrpSpPr/>
          <p:nvPr/>
        </p:nvGrpSpPr>
        <p:grpSpPr>
          <a:xfrm>
            <a:off x="9764848" y="10877343"/>
            <a:ext cx="450765" cy="453976"/>
            <a:chOff x="7684161" y="2771107"/>
            <a:chExt cx="450765" cy="453976"/>
          </a:xfrm>
        </p:grpSpPr>
        <p:sp>
          <p:nvSpPr>
            <p:cNvPr id="18" name="円/楕円 17">
              <a:extLst>
                <a:ext uri="{FF2B5EF4-FFF2-40B4-BE49-F238E27FC236}">
                  <a16:creationId xmlns:a16="http://schemas.microsoft.com/office/drawing/2014/main" id="{A0DABDC1-88E2-1446-E9B2-627F4C3DEF30}"/>
                </a:ext>
              </a:extLst>
            </p:cNvPr>
            <p:cNvSpPr/>
            <p:nvPr/>
          </p:nvSpPr>
          <p:spPr>
            <a:xfrm>
              <a:off x="7716913" y="2793154"/>
              <a:ext cx="385261" cy="38526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DF8B4CD6-FC59-CD3A-E186-E3B2AEAEAF65}"/>
                </a:ext>
              </a:extLst>
            </p:cNvPr>
            <p:cNvSpPr txBox="1"/>
            <p:nvPr/>
          </p:nvSpPr>
          <p:spPr>
            <a:xfrm>
              <a:off x="7684161" y="2771107"/>
              <a:ext cx="450765" cy="36933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kumimoji="1" lang="en-US" altLang="ja-JP" b="1">
                  <a:solidFill>
                    <a:schemeClr val="bg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28</a:t>
              </a:r>
              <a:endParaRPr kumimoji="1" lang="ja-JP" altLang="en-US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8CEB32CB-2F28-56F9-750E-CFEA34D631EF}"/>
                </a:ext>
              </a:extLst>
            </p:cNvPr>
            <p:cNvSpPr txBox="1"/>
            <p:nvPr/>
          </p:nvSpPr>
          <p:spPr>
            <a:xfrm>
              <a:off x="7766924" y="2994251"/>
              <a:ext cx="300082" cy="23083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kumimoji="1" lang="ja-JP" altLang="en-US" sz="900" b="1">
                  <a:solidFill>
                    <a:schemeClr val="bg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卒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E4816D82-D73C-93F7-BDE0-A20F715D9472}"/>
              </a:ext>
            </a:extLst>
          </p:cNvPr>
          <p:cNvGrpSpPr/>
          <p:nvPr/>
        </p:nvGrpSpPr>
        <p:grpSpPr>
          <a:xfrm>
            <a:off x="9314082" y="10877343"/>
            <a:ext cx="450765" cy="453976"/>
            <a:chOff x="10594895" y="9353227"/>
            <a:chExt cx="450765" cy="453976"/>
          </a:xfrm>
        </p:grpSpPr>
        <p:sp>
          <p:nvSpPr>
            <p:cNvPr id="22" name="円/楕円 21">
              <a:extLst>
                <a:ext uri="{FF2B5EF4-FFF2-40B4-BE49-F238E27FC236}">
                  <a16:creationId xmlns:a16="http://schemas.microsoft.com/office/drawing/2014/main" id="{FA36767B-AB62-9BF0-1A6E-F14D4F80C933}"/>
                </a:ext>
              </a:extLst>
            </p:cNvPr>
            <p:cNvSpPr/>
            <p:nvPr/>
          </p:nvSpPr>
          <p:spPr>
            <a:xfrm>
              <a:off x="10627648" y="9375274"/>
              <a:ext cx="385261" cy="38526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35056BAC-4B10-54B0-3C1D-3132CEC7C26F}"/>
                </a:ext>
              </a:extLst>
            </p:cNvPr>
            <p:cNvSpPr txBox="1"/>
            <p:nvPr/>
          </p:nvSpPr>
          <p:spPr>
            <a:xfrm>
              <a:off x="10594895" y="9353227"/>
              <a:ext cx="450765" cy="36933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kumimoji="1" lang="en-US" altLang="ja-JP" b="1">
                  <a:solidFill>
                    <a:schemeClr val="bg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27</a:t>
              </a:r>
              <a:endParaRPr kumimoji="1" lang="ja-JP" altLang="en-US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A711D7B7-245A-D139-CC60-32913823D669}"/>
                </a:ext>
              </a:extLst>
            </p:cNvPr>
            <p:cNvSpPr txBox="1"/>
            <p:nvPr/>
          </p:nvSpPr>
          <p:spPr>
            <a:xfrm>
              <a:off x="10677659" y="9576371"/>
              <a:ext cx="300082" cy="23083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kumimoji="1" lang="ja-JP" altLang="en-US" sz="900" b="1">
                  <a:solidFill>
                    <a:schemeClr val="bg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卒</a:t>
              </a: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D26E6D8E-EFF0-4415-149B-F259BAF374E0}"/>
              </a:ext>
            </a:extLst>
          </p:cNvPr>
          <p:cNvGrpSpPr/>
          <p:nvPr/>
        </p:nvGrpSpPr>
        <p:grpSpPr>
          <a:xfrm>
            <a:off x="10215613" y="10877343"/>
            <a:ext cx="450765" cy="453976"/>
            <a:chOff x="10920595" y="9353227"/>
            <a:chExt cx="450765" cy="453976"/>
          </a:xfrm>
        </p:grpSpPr>
        <p:sp>
          <p:nvSpPr>
            <p:cNvPr id="26" name="円/楕円 25">
              <a:extLst>
                <a:ext uri="{FF2B5EF4-FFF2-40B4-BE49-F238E27FC236}">
                  <a16:creationId xmlns:a16="http://schemas.microsoft.com/office/drawing/2014/main" id="{3E8DDE36-90D3-0DFF-7290-AFA4DDF5E196}"/>
                </a:ext>
              </a:extLst>
            </p:cNvPr>
            <p:cNvSpPr/>
            <p:nvPr/>
          </p:nvSpPr>
          <p:spPr>
            <a:xfrm>
              <a:off x="10953347" y="9375274"/>
              <a:ext cx="385261" cy="3852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9AF95750-4B55-C631-F556-381AF34DF52D}"/>
                </a:ext>
              </a:extLst>
            </p:cNvPr>
            <p:cNvSpPr txBox="1"/>
            <p:nvPr/>
          </p:nvSpPr>
          <p:spPr>
            <a:xfrm>
              <a:off x="10920595" y="9353227"/>
              <a:ext cx="450765" cy="36933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kumimoji="1" lang="en-US" altLang="ja-JP" b="1">
                  <a:solidFill>
                    <a:schemeClr val="bg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29</a:t>
              </a:r>
              <a:endParaRPr kumimoji="1" lang="ja-JP" altLang="en-US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DF7CB477-4B7B-B64F-550E-7DBF20E3C441}"/>
                </a:ext>
              </a:extLst>
            </p:cNvPr>
            <p:cNvSpPr txBox="1"/>
            <p:nvPr/>
          </p:nvSpPr>
          <p:spPr>
            <a:xfrm>
              <a:off x="11003358" y="9576371"/>
              <a:ext cx="300082" cy="23083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kumimoji="1" lang="ja-JP" altLang="en-US" sz="900" b="1">
                  <a:solidFill>
                    <a:schemeClr val="bg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卒</a:t>
              </a: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6728FA38-3A12-02C8-00F6-90C4456DA5BE}"/>
              </a:ext>
            </a:extLst>
          </p:cNvPr>
          <p:cNvGrpSpPr/>
          <p:nvPr/>
        </p:nvGrpSpPr>
        <p:grpSpPr>
          <a:xfrm>
            <a:off x="10666379" y="10877343"/>
            <a:ext cx="450764" cy="453976"/>
            <a:chOff x="11507992" y="9353227"/>
            <a:chExt cx="450764" cy="453976"/>
          </a:xfrm>
        </p:grpSpPr>
        <p:sp>
          <p:nvSpPr>
            <p:cNvPr id="30" name="円/楕円 29">
              <a:extLst>
                <a:ext uri="{FF2B5EF4-FFF2-40B4-BE49-F238E27FC236}">
                  <a16:creationId xmlns:a16="http://schemas.microsoft.com/office/drawing/2014/main" id="{521DF30A-6916-4B14-1FE5-9F568BCDA3D9}"/>
                </a:ext>
              </a:extLst>
            </p:cNvPr>
            <p:cNvSpPr/>
            <p:nvPr/>
          </p:nvSpPr>
          <p:spPr>
            <a:xfrm>
              <a:off x="11540743" y="9375274"/>
              <a:ext cx="385261" cy="3852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034B6830-CD5F-CF25-3B29-EBA5A3AFB4DC}"/>
                </a:ext>
              </a:extLst>
            </p:cNvPr>
            <p:cNvSpPr txBox="1"/>
            <p:nvPr/>
          </p:nvSpPr>
          <p:spPr>
            <a:xfrm>
              <a:off x="11507992" y="9353227"/>
              <a:ext cx="450764" cy="36933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kumimoji="1" lang="en-US" altLang="ja-JP" b="1">
                  <a:solidFill>
                    <a:schemeClr val="bg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30</a:t>
              </a:r>
              <a:endParaRPr kumimoji="1" lang="ja-JP" altLang="en-US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F5D89B5B-4145-D684-8254-B73D6F502C92}"/>
                </a:ext>
              </a:extLst>
            </p:cNvPr>
            <p:cNvSpPr txBox="1"/>
            <p:nvPr/>
          </p:nvSpPr>
          <p:spPr>
            <a:xfrm>
              <a:off x="11590754" y="9576371"/>
              <a:ext cx="300082" cy="23083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kumimoji="1" lang="ja-JP" altLang="en-US" sz="900" b="1">
                  <a:solidFill>
                    <a:schemeClr val="bg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卒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0A80D6D-3CB9-B3D9-CEC8-0F1756F3863F}"/>
              </a:ext>
            </a:extLst>
          </p:cNvPr>
          <p:cNvSpPr txBox="1"/>
          <p:nvPr/>
        </p:nvSpPr>
        <p:spPr>
          <a:xfrm>
            <a:off x="2408237" y="5117306"/>
            <a:ext cx="2743199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D6D6E-C6EA-C12D-DF2C-371A7152CF31}"/>
              </a:ext>
            </a:extLst>
          </p:cNvPr>
          <p:cNvSpPr txBox="1"/>
          <p:nvPr/>
        </p:nvSpPr>
        <p:spPr>
          <a:xfrm>
            <a:off x="2551112" y="5260181"/>
            <a:ext cx="2743199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901" name="顔写真枠"/>
          <p:cNvSpPr/>
          <p:nvPr/>
        </p:nvSpPr>
        <p:spPr>
          <a:xfrm>
            <a:off x="324000" y="1062000"/>
            <a:ext cx="900000" cy="1116000"/>
          </a:xfrm>
          <a:prstGeom prst="rect">
            <a:avLst/>
          </a:prstGeom>
          <a:solidFill>
            <a:srgbClr val="EFEFEF"/>
          </a:solidFill>
          <a:ln w="9525">
            <a:solidFill>
              <a:srgbClr val="B0B0B0"/>
            </a:solidFill>
            <a:prstDash val="dash"/>
          </a:ln>
        </p:spPr>
        <p:txBody>
          <a:bodyPr lIns="32400" tIns="19440" rIns="32400" bIns="19440" anchor="ctr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ja-JP" altLang="en-US" sz="800" b="0" dirty="0">
                <a:solidFill>
                  <a:srgbClr val="90909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顔写真</a:t>
            </a:r>
          </a:p>
        </p:txBody>
      </p:sp>
      <p:sp>
        <p:nvSpPr>
          <p:cNvPr id="902" name="カタカナ"/>
          <p:cNvSpPr txBox="1"/>
          <p:nvPr/>
        </p:nvSpPr>
        <p:spPr>
          <a:xfrm>
            <a:off x="1332000" y="1062000"/>
            <a:ext cx="3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90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【カタカナ表記】</a:t>
            </a:r>
          </a:p>
        </p:txBody>
      </p:sp>
      <p:sp>
        <p:nvSpPr>
          <p:cNvPr id="903" name="氏名"/>
          <p:cNvSpPr txBox="1"/>
          <p:nvPr/>
        </p:nvSpPr>
        <p:spPr>
          <a:xfrm>
            <a:off x="1332000" y="1206000"/>
            <a:ext cx="3960000" cy="4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22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【氏　名】</a:t>
            </a:r>
          </a:p>
        </p:txBody>
      </p:sp>
      <p:sp>
        <p:nvSpPr>
          <p:cNvPr id="904" name="コース"/>
          <p:cNvSpPr txBox="1"/>
          <p:nvPr/>
        </p:nvSpPr>
        <p:spPr>
          <a:xfrm>
            <a:off x="1854000" y="1710000"/>
            <a:ext cx="3168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10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【学科・コース・学年】</a:t>
            </a:r>
          </a:p>
        </p:txBody>
      </p:sp>
      <p:sp>
        <p:nvSpPr>
          <p:cNvPr id="905" name="志望職種"/>
          <p:cNvSpPr txBox="1"/>
          <p:nvPr/>
        </p:nvSpPr>
        <p:spPr>
          <a:xfrm>
            <a:off x="1854000" y="1926000"/>
            <a:ext cx="3186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【志望職種】</a:t>
            </a:r>
          </a:p>
        </p:txBody>
      </p:sp>
      <p:sp>
        <p:nvSpPr>
          <p:cNvPr id="906" name="使用技術"/>
          <p:cNvSpPr/>
          <p:nvPr/>
        </p:nvSpPr>
        <p:spPr>
          <a:xfrm>
            <a:off x="5040000" y="1062000"/>
            <a:ext cx="2196000" cy="109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lIns="90000" tIns="54000" rIns="90000" bIns="54000" anchor="ctr" wrap="square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kumimoji="1" lang="ja-JP" altLang="en-US" sz="10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使える技術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【自分が使える技術】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例：Java 21 ／ Spring Boot 3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　　React 19 ／ PostgreSQL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　　Leaflet ／ Git・GitHub</a:t>
            </a:r>
          </a:p>
        </p:txBody>
      </p:sp>
      <p:sp>
        <p:nvSpPr>
          <p:cNvPr id="907" name="キャッチコピー"/>
          <p:cNvSpPr txBox="1"/>
          <p:nvPr/>
        </p:nvSpPr>
        <p:spPr>
          <a:xfrm>
            <a:off x="324000" y="2250000"/>
            <a:ext cx="4536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kumimoji="1" lang="ja-JP" altLang="en-US" sz="14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「無事に着いた」が、すぐ伝わる。</a:t>
            </a:r>
          </a:p>
        </p:txBody>
      </p:sp>
      <p:sp>
        <p:nvSpPr>
          <p:cNvPr id="908" name="作品説明"/>
          <p:cNvSpPr txBox="1"/>
          <p:nvPr/>
        </p:nvSpPr>
        <p:spPr>
          <a:xfrm>
            <a:off x="324000" y="2592000"/>
            <a:ext cx="4536000" cy="7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家族や友人と位置を共有するWebアプリです。誰か一人が動くと、家族全員の地図がその場で書き換わります。技術的な見どころはWebSocket（STOMP）によるリアルタイム更新。書き込みはREST、配信だけをWebSocketに任せ、更新の経路が二重にならない設計にしました。SOS発信・呼び出し・トークまで実装しています。</a:t>
            </a:r>
          </a:p>
        </p:txBody>
      </p:sp>
      <p:sp>
        <p:nvSpPr>
          <p:cNvPr id="909" name="担当ラベル"/>
          <p:cNvSpPr/>
          <p:nvPr/>
        </p:nvSpPr>
        <p:spPr>
          <a:xfrm>
            <a:off x="324000" y="3402000"/>
            <a:ext cx="1080000" cy="19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ja-JP" altLang="en-US" sz="800" b="1" dirty="0">
                <a:solidFill>
                  <a:srgbClr val="FFFFF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この作品での担当</a:t>
            </a:r>
          </a:p>
        </p:txBody>
      </p:sp>
      <p:sp>
        <p:nvSpPr>
          <p:cNvPr id="910" name="担当内容"/>
          <p:cNvSpPr txBox="1"/>
          <p:nvPr/>
        </p:nvSpPr>
        <p:spPr>
          <a:xfrm>
            <a:off x="324000" y="3636000"/>
            <a:ext cx="4536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kumimoji="1" lang="ja-JP" altLang="en-US" sz="9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私の担当：【担当した箇所】</a:t>
            </a:r>
          </a:p>
          <a:p>
            <a:pPr algn="l">
              <a:lnSpc>
                <a:spcPct val="140000"/>
              </a:lnSpc>
            </a:pPr>
            <a:r>
              <a:rPr kumimoji="1" lang="ja-JP" altLang="en-US" sz="85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【何をどう作ったかを2行くらいで。使った技術の名前を必ず入れる】</a:t>
            </a:r>
          </a:p>
        </p:txBody>
      </p:sp>
      <p:sp>
        <p:nvSpPr>
          <p:cNvPr id="911" name="チーム"/>
          <p:cNvSpPr txBox="1"/>
          <p:nvPr/>
        </p:nvSpPr>
        <p:spPr>
          <a:xfrm>
            <a:off x="324000" y="4212000"/>
            <a:ext cx="468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kumimoji="1" lang="ja-JP" altLang="en-US" sz="7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UFOチーム（5名）　KERUNG SAJAN・陈 锦峰：フロントエンド／宮道 一輝・古賀 陸：バックエンド</a:t>
            </a:r>
          </a:p>
        </p:txBody>
      </p:sp>
      <p:pic>
        <p:nvPicPr>
          <p:cNvPr id="912" name="マップ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8200" y="2196000"/>
            <a:ext cx="565200" cy="1224000"/>
          </a:xfrm>
          <a:prstGeom prst="rect">
            <a:avLst/>
          </a:prstGeom>
          <a:ln w="3175">
            <a:solidFill>
              <a:srgbClr val="D0D0D0"/>
            </a:solidFill>
          </a:ln>
        </p:spPr>
      </p:pic>
      <p:pic>
        <p:nvPicPr>
          <p:cNvPr id="913" name="メンバー詳細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55400" y="2196000"/>
            <a:ext cx="565200" cy="1224000"/>
          </a:xfrm>
          <a:prstGeom prst="rect">
            <a:avLst/>
          </a:prstGeom>
          <a:ln w="3175">
            <a:solidFill>
              <a:srgbClr val="D0D0D0"/>
            </a:solidFill>
          </a:ln>
        </p:spPr>
      </p:pic>
      <p:pic>
        <p:nvPicPr>
          <p:cNvPr id="914" name="SOS発信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600" y="2196000"/>
            <a:ext cx="565200" cy="1224000"/>
          </a:xfrm>
          <a:prstGeom prst="rect">
            <a:avLst/>
          </a:prstGeom>
          <a:ln w="3175">
            <a:solidFill>
              <a:srgbClr val="D0D0D0"/>
            </a:solidFill>
          </a:ln>
        </p:spPr>
      </p:pic>
      <p:sp>
        <p:nvSpPr>
          <p:cNvPr id="915" name="図キャプション"/>
          <p:cNvSpPr txBox="1"/>
          <p:nvPr/>
        </p:nvSpPr>
        <p:spPr>
          <a:xfrm>
            <a:off x="5040000" y="3456000"/>
            <a:ext cx="2196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kumimoji="1" lang="ja-JP" altLang="en-US" sz="7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マップ　／　メンバー詳細　／　SOS発信</a:t>
            </a:r>
          </a:p>
        </p:txBody>
      </p:sp>
      <p:sp>
        <p:nvSpPr>
          <p:cNvPr id="916" name="技術的な工夫"/>
          <p:cNvSpPr txBox="1"/>
          <p:nvPr/>
        </p:nvSpPr>
        <p:spPr>
          <a:xfrm>
            <a:off x="5040000" y="3618000"/>
            <a:ext cx="2196000" cy="8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kumimoji="1" lang="ja-JP" altLang="en-US" sz="9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技術的な工夫</a:t>
            </a:r>
          </a:p>
          <a:p>
            <a:pPr algn="l" marL="104400" indent="-104400">
              <a:lnSpc>
                <a:spcPct val="135000"/>
              </a:lnSpc>
              <a:spcAft>
                <a:spcPts val="100"/>
              </a:spcAft>
            </a:pPr>
            <a:r>
              <a:rPr kumimoji="1" lang="ja-JP" altLang="en-US" sz="8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・書き込みは REST、配信だけ WebSocket。更新の経路が二重にならない設計にしました。</a:t>
            </a:r>
          </a:p>
          <a:p>
            <a:pPr algn="l" marL="104400" indent="-104400">
              <a:lnSpc>
                <a:spcPct val="135000"/>
              </a:lnSpc>
              <a:spcAft>
                <a:spcPts val="100"/>
              </a:spcAft>
            </a:pPr>
            <a:r>
              <a:rPr kumimoji="1" lang="ja-JP" altLang="en-US" sz="8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・スキーマは Flyway で管理し、エンティティとテーブルがずれたら起動時に検知。</a:t>
            </a:r>
          </a:p>
        </p:txBody>
      </p:sp>
      <p:sp>
        <p:nvSpPr>
          <p:cNvPr id="917" name="顔写真枠"/>
          <p:cNvSpPr/>
          <p:nvPr/>
        </p:nvSpPr>
        <p:spPr>
          <a:xfrm>
            <a:off x="324000" y="6390000"/>
            <a:ext cx="900000" cy="1116000"/>
          </a:xfrm>
          <a:prstGeom prst="rect">
            <a:avLst/>
          </a:prstGeom>
          <a:solidFill>
            <a:srgbClr val="EFEFEF"/>
          </a:solidFill>
          <a:ln w="9525">
            <a:solidFill>
              <a:srgbClr val="B0B0B0"/>
            </a:solidFill>
            <a:prstDash val="dash"/>
          </a:ln>
        </p:spPr>
        <p:txBody>
          <a:bodyPr lIns="32400" tIns="19440" rIns="32400" bIns="19440" anchor="ctr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ja-JP" altLang="en-US" sz="800" b="0" dirty="0">
                <a:solidFill>
                  <a:srgbClr val="90909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顔写真</a:t>
            </a:r>
          </a:p>
        </p:txBody>
      </p:sp>
      <p:sp>
        <p:nvSpPr>
          <p:cNvPr id="918" name="カタカナ"/>
          <p:cNvSpPr txBox="1"/>
          <p:nvPr/>
        </p:nvSpPr>
        <p:spPr>
          <a:xfrm>
            <a:off x="1332000" y="6390000"/>
            <a:ext cx="3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90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【カタカナ表記】</a:t>
            </a:r>
          </a:p>
        </p:txBody>
      </p:sp>
      <p:sp>
        <p:nvSpPr>
          <p:cNvPr id="919" name="氏名"/>
          <p:cNvSpPr txBox="1"/>
          <p:nvPr/>
        </p:nvSpPr>
        <p:spPr>
          <a:xfrm>
            <a:off x="1332000" y="6534000"/>
            <a:ext cx="3960000" cy="4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22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【氏　名】</a:t>
            </a:r>
          </a:p>
        </p:txBody>
      </p:sp>
      <p:sp>
        <p:nvSpPr>
          <p:cNvPr id="920" name="コース"/>
          <p:cNvSpPr txBox="1"/>
          <p:nvPr/>
        </p:nvSpPr>
        <p:spPr>
          <a:xfrm>
            <a:off x="1854000" y="7038000"/>
            <a:ext cx="3168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10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【学科・コース・学年】</a:t>
            </a:r>
          </a:p>
        </p:txBody>
      </p:sp>
      <p:sp>
        <p:nvSpPr>
          <p:cNvPr id="921" name="志望職種"/>
          <p:cNvSpPr txBox="1"/>
          <p:nvPr/>
        </p:nvSpPr>
        <p:spPr>
          <a:xfrm>
            <a:off x="1854000" y="7254000"/>
            <a:ext cx="3186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【志望職種】</a:t>
            </a:r>
          </a:p>
        </p:txBody>
      </p:sp>
      <p:sp>
        <p:nvSpPr>
          <p:cNvPr id="922" name="使用技術"/>
          <p:cNvSpPr/>
          <p:nvPr/>
        </p:nvSpPr>
        <p:spPr>
          <a:xfrm>
            <a:off x="5040000" y="6390000"/>
            <a:ext cx="2196000" cy="109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lIns="90000" tIns="54000" rIns="90000" bIns="54000" anchor="ctr" wrap="square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kumimoji="1" lang="ja-JP" altLang="en-US" sz="10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使える技術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【自分が使える技術】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例：Java 21 ／ Spring Boot 3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　　React 19 ／ PostgreSQL</a:t>
            </a:r>
          </a:p>
          <a:p>
            <a:pPr algn="l">
              <a:lnSpc>
                <a:spcPct val="125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　　Leaflet ／ Git・GitHub</a:t>
            </a:r>
          </a:p>
        </p:txBody>
      </p:sp>
      <p:sp>
        <p:nvSpPr>
          <p:cNvPr id="923" name="キャッチコピー"/>
          <p:cNvSpPr txBox="1"/>
          <p:nvPr/>
        </p:nvSpPr>
        <p:spPr>
          <a:xfrm>
            <a:off x="324000" y="7578000"/>
            <a:ext cx="4536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kumimoji="1" lang="ja-JP" altLang="en-US" sz="14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「無事に着いた」が、すぐ伝わる。</a:t>
            </a:r>
          </a:p>
        </p:txBody>
      </p:sp>
      <p:sp>
        <p:nvSpPr>
          <p:cNvPr id="924" name="作品説明"/>
          <p:cNvSpPr txBox="1"/>
          <p:nvPr/>
        </p:nvSpPr>
        <p:spPr>
          <a:xfrm>
            <a:off x="324000" y="7920000"/>
            <a:ext cx="4536000" cy="7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家族や友人と位置を共有するWebアプリです。誰か一人が動くと、家族全員の地図がその場で書き換わります。技術的な見どころはWebSocket（STOMP）によるリアルタイム更新。書き込みはREST、配信だけをWebSocketに任せ、更新の経路が二重にならない設計にしました。SOS発信・呼び出し・トークまで実装しています。</a:t>
            </a:r>
          </a:p>
        </p:txBody>
      </p:sp>
      <p:sp>
        <p:nvSpPr>
          <p:cNvPr id="925" name="担当ラベル"/>
          <p:cNvSpPr/>
          <p:nvPr/>
        </p:nvSpPr>
        <p:spPr>
          <a:xfrm>
            <a:off x="324000" y="8730000"/>
            <a:ext cx="1080000" cy="19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ja-JP" altLang="en-US" sz="800" b="1" dirty="0">
                <a:solidFill>
                  <a:srgbClr val="FFFFFF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この作品での担当</a:t>
            </a:r>
          </a:p>
        </p:txBody>
      </p:sp>
      <p:sp>
        <p:nvSpPr>
          <p:cNvPr id="926" name="担当内容"/>
          <p:cNvSpPr txBox="1"/>
          <p:nvPr/>
        </p:nvSpPr>
        <p:spPr>
          <a:xfrm>
            <a:off x="324000" y="8964000"/>
            <a:ext cx="4536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kumimoji="1" lang="ja-JP" altLang="en-US" sz="9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私の担当：【担当した箇所】</a:t>
            </a:r>
          </a:p>
          <a:p>
            <a:pPr algn="l">
              <a:lnSpc>
                <a:spcPct val="140000"/>
              </a:lnSpc>
            </a:pPr>
            <a:r>
              <a:rPr kumimoji="1" lang="ja-JP" altLang="en-US" sz="85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【何をどう作ったかを2行くらいで。使った技術の名前を必ず入れる】</a:t>
            </a:r>
          </a:p>
        </p:txBody>
      </p:sp>
      <p:sp>
        <p:nvSpPr>
          <p:cNvPr id="927" name="チーム"/>
          <p:cNvSpPr txBox="1"/>
          <p:nvPr/>
        </p:nvSpPr>
        <p:spPr>
          <a:xfrm>
            <a:off x="324000" y="9540000"/>
            <a:ext cx="468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kumimoji="1" lang="ja-JP" altLang="en-US" sz="7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UFOチーム（5名）　KERUNG SAJAN・陈 锦峰：フロントエンド／宮道 一輝・古賀 陸：バックエンド</a:t>
            </a:r>
          </a:p>
        </p:txBody>
      </p:sp>
      <p:pic>
        <p:nvPicPr>
          <p:cNvPr id="928" name="マップ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8200" y="7524000"/>
            <a:ext cx="565200" cy="1224000"/>
          </a:xfrm>
          <a:prstGeom prst="rect">
            <a:avLst/>
          </a:prstGeom>
          <a:ln w="3175">
            <a:solidFill>
              <a:srgbClr val="D0D0D0"/>
            </a:solidFill>
          </a:ln>
        </p:spPr>
      </p:pic>
      <p:pic>
        <p:nvPicPr>
          <p:cNvPr id="929" name="メンバー詳細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55400" y="7524000"/>
            <a:ext cx="565200" cy="1224000"/>
          </a:xfrm>
          <a:prstGeom prst="rect">
            <a:avLst/>
          </a:prstGeom>
          <a:ln w="3175">
            <a:solidFill>
              <a:srgbClr val="D0D0D0"/>
            </a:solidFill>
          </a:ln>
        </p:spPr>
      </p:pic>
      <p:pic>
        <p:nvPicPr>
          <p:cNvPr id="930" name="SOS発信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600" y="7524000"/>
            <a:ext cx="565200" cy="1224000"/>
          </a:xfrm>
          <a:prstGeom prst="rect">
            <a:avLst/>
          </a:prstGeom>
          <a:ln w="3175">
            <a:solidFill>
              <a:srgbClr val="D0D0D0"/>
            </a:solidFill>
          </a:ln>
        </p:spPr>
      </p:pic>
      <p:sp>
        <p:nvSpPr>
          <p:cNvPr id="931" name="図キャプション"/>
          <p:cNvSpPr txBox="1"/>
          <p:nvPr/>
        </p:nvSpPr>
        <p:spPr>
          <a:xfrm>
            <a:off x="5040000" y="8784000"/>
            <a:ext cx="2196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kumimoji="1" lang="ja-JP" altLang="en-US" sz="7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マップ　／　メンバー詳細　／　SOS発信</a:t>
            </a:r>
          </a:p>
        </p:txBody>
      </p:sp>
      <p:sp>
        <p:nvSpPr>
          <p:cNvPr id="932" name="技術的な工夫"/>
          <p:cNvSpPr txBox="1"/>
          <p:nvPr/>
        </p:nvSpPr>
        <p:spPr>
          <a:xfrm>
            <a:off x="5040000" y="8946000"/>
            <a:ext cx="2196000" cy="8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kumimoji="1" lang="ja-JP" altLang="en-US" sz="9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技術的な工夫</a:t>
            </a:r>
          </a:p>
          <a:p>
            <a:pPr algn="l" marL="104400" indent="-104400">
              <a:lnSpc>
                <a:spcPct val="135000"/>
              </a:lnSpc>
              <a:spcAft>
                <a:spcPts val="100"/>
              </a:spcAft>
            </a:pPr>
            <a:r>
              <a:rPr kumimoji="1" lang="ja-JP" altLang="en-US" sz="8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・書き込みは REST、配信だけ WebSocket。更新の経路が二重にならない設計にしました。</a:t>
            </a:r>
          </a:p>
          <a:p>
            <a:pPr algn="l" marL="104400" indent="-104400">
              <a:lnSpc>
                <a:spcPct val="135000"/>
              </a:lnSpc>
              <a:spcAft>
                <a:spcPts val="100"/>
              </a:spcAft>
            </a:pPr>
            <a:r>
              <a:rPr kumimoji="1" lang="ja-JP" altLang="en-US" sz="8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・スキーマは Flyway で管理し、エンティティとテーブルがずれたら起動時に検知。</a:t>
            </a:r>
          </a:p>
        </p:txBody>
      </p:sp>
    </p:spTree>
    <p:extLst>
      <p:ext uri="{BB962C8B-B14F-4D97-AF65-F5344CB8AC3E}">
        <p14:creationId xmlns:p14="http://schemas.microsoft.com/office/powerpoint/2010/main" val="3045892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7813</TotalTime>
  <Words>36</Words>
  <Application>Microsoft Macintosh PowerPoint</Application>
  <PresentationFormat>ユーザー設定</PresentationFormat>
  <Paragraphs>18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</vt:lpstr>
      <vt:lpstr>Yu Mincho Demibold</vt:lpstr>
      <vt:lpstr>Arial</vt:lpstr>
      <vt:lpstr>Calibri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Office User</dc:creator>
  <cp:lastModifiedBy>akio</cp:lastModifiedBy>
  <cp:revision>33</cp:revision>
  <cp:lastPrinted>2023-06-08T06:58:27Z</cp:lastPrinted>
  <dcterms:created xsi:type="dcterms:W3CDTF">2023-05-23T14:44:56Z</dcterms:created>
  <dcterms:modified xsi:type="dcterms:W3CDTF">2026-07-06T01:23:03Z</dcterms:modified>
</cp:coreProperties>
</file>